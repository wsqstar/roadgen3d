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39F"/>
          </a:solidFill>
          <a:ln>
            <a:noFill/>
          </a:ln>
        </p:spPr>
      </p:sp>
      <p:sp>
        <p:nvSpPr>
          <p:cNvPr id="3" name="top-line"/>
          <p:cNvSpPr/>
          <p:nvPr>
            <p:extLst>
              <p:ext uri="{F5677B7D-0D2A-4D9B-9A5C-6D8D7D0E5A5D}">
                <pptd:line encoding="base64url">eyJjdXJ2ZSI6InJvdW5kIiwicG9pbnRzIjoiMCwwIDg0MCwwIiwidmlld0JveCI6Wzg0MCwxXX0</pptd:line>
              </p:ext>
            </p:extLst>
          </p:nvPr>
        </p:nvSpPr>
        <p:spPr>
          <a:xfrm>
            <a:off x="762000" y="1016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4" name="title"/>
          <p:cNvSpPr txBox="1"/>
          <p:nvPr/>
        </p:nvSpPr>
        <p:spPr>
          <a:xfrm>
            <a:off x="762000" y="17780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10000"/>
              </a:lnSpc>
            </a:pPr>
            <a:r>
              <a:rPr lang="en-US" sz="5200" b="1">
                <a:solidFill>
                  <a:srgbClr val="00539F"/>
                </a:solidFill>
                <a:latin typeface="MiSans"/>
                <a:ea typeface="MiSans"/>
              </a:rPr>
              <a:t>RoadGen3D</a:t>
            </a:r>
            <a:endParaRPr lang="en-US" sz="5200"/>
          </a:p>
        </p:txBody>
      </p:sp>
      <p:sp>
        <p:nvSpPr>
          <p:cNvPr id="5" name="subtitle"/>
          <p:cNvSpPr txBox="1"/>
          <p:nvPr/>
        </p:nvSpPr>
        <p:spPr>
          <a:xfrm>
            <a:off x="762000" y="27940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2200">
                <a:solidFill>
                  <a:srgbClr val="1F2937"/>
                </a:solidFill>
                <a:latin typeface="MiSans"/>
                <a:ea typeface="MiSans"/>
              </a:rPr>
              <a:t>规则驱动的 3D 街道场景生成与评价系统</a:t>
            </a:r>
            <a:endParaRPr lang="en-US" sz="2200"/>
          </a:p>
          <a:p>
            <a:pPr algn="l">
              <a:lnSpc>
                <a:spcPct val="140000"/>
              </a:lnSpc>
            </a:pPr>
            <a:r>
              <a:rPr lang="en-US" sz="1600">
                <a:solidFill>
                  <a:srgbClr val="6B7280"/>
                </a:solidFill>
                <a:latin typeface="MiSans"/>
                <a:ea typeface="MiSans"/>
              </a:rPr>
              <a:t>Rule-based, AI-assisted Urban Street Scene Generation</a:t>
            </a:r>
            <a:endParaRPr lang="en-US" sz="2200"/>
          </a:p>
        </p:txBody>
      </p:sp>
      <p:sp>
        <p:nvSpPr>
          <p:cNvPr id="6" name="yellow-line"/>
          <p:cNvSpPr/>
          <p:nvPr>
            <p:extLst>
              <p:ext uri="{F5677B7D-0D2A-4D9B-9A5C-6D8D7D0E5A5D}">
                <pptd:line encoding="base64url">eyJjdXJ2ZSI6InJvdW5kIiwicG9pbnRzIjoiMCwwIDgwLDAiLCJ2aWV3Qm94IjpbODAsM119</pptd:line>
              </p:ext>
            </p:extLst>
          </p:nvPr>
        </p:nvSpPr>
        <p:spPr>
          <a:xfrm>
            <a:off x="762000" y="4064000"/>
            <a:ext cx="1016000" cy="38100"/>
          </a:xfrm>
          <a:custGeom>
            <a:avLst/>
            <a:gdLst/>
            <a:ahLst/>
            <a:cxnLst/>
            <a:rect l="l" t="t" r="r" b="b"/>
            <a:pathLst>
              <a:path w="80" h="3">
                <a:moveTo>
                  <a:pt x="0" y="0"/>
                </a:moveTo>
                <a:lnTo>
                  <a:pt x="80" y="0"/>
                </a:lnTo>
              </a:path>
            </a:pathLst>
          </a:custGeom>
          <a:noFill/>
          <a:ln w="38100" cap="rnd">
            <a:solidFill>
              <a:srgbClr val="FFD100"/>
            </a:solidFill>
            <a:round/>
          </a:ln>
        </p:spPr>
      </p:sp>
      <p:sp>
        <p:nvSpPr>
          <p:cNvPr id="7" name="bottom-info"/>
          <p:cNvSpPr txBox="1"/>
          <p:nvPr/>
        </p:nvSpPr>
        <p:spPr>
          <a:xfrm>
            <a:off x="762000" y="5842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b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GIStudio  ·  2026.07</a:t>
            </a:r>
            <a:endParaRPr lang="en-US" sz="1200"/>
          </a:p>
        </p:txBody>
      </p:sp>
      <p:sp>
        <p:nvSpPr>
          <p:cNvPr id="8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01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01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街道场景设计：不只是画一条路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body-text"/>
          <p:cNvSpPr txBox="1"/>
          <p:nvPr/>
        </p:nvSpPr>
        <p:spPr>
          <a:xfrm>
            <a:off x="762000" y="1778000"/>
            <a:ext cx="55880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1F2937"/>
                </a:solidFill>
                <a:latin typeface="MiSans"/>
                <a:ea typeface="MiSans"/>
              </a:rPr>
              <a:t>街道 ≠ 道路</a:t>
            </a:r>
            <a:endParaRPr lang="en-US" sz="16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街道是城市公共空间的核心，包含：</a:t>
            </a:r>
            <a:endParaRPr lang="en-US" sz="1600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车行道、人行道、绿化带</a:t>
            </a:r>
            <a:endParaRPr lang="en-US" sz="1600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街道家具：长椅、路灯、垃圾桶、公交站</a:t>
            </a:r>
            <a:endParaRPr lang="en-US" sz="1600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建筑界面与临街活动</a:t>
            </a:r>
            <a:endParaRPr lang="en-US" sz="160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600" b="1">
                <a:solidFill>
                  <a:srgbClr val="1F2937"/>
                </a:solidFill>
                <a:latin typeface="MiSans"/>
                <a:ea typeface="MiSans"/>
              </a:rPr>
              <a:t>好的街道设计关乎三个维度：</a:t>
            </a:r>
            <a:endParaRPr lang="en-US" sz="1600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步行性 — 行人是否舒适、安全</a:t>
            </a:r>
            <a:endParaRPr lang="en-US" sz="1600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安全性 — 交通隔离、照明覆盖</a:t>
            </a:r>
            <a:endParaRPr lang="en-US" sz="1600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美观性 — 植物配置、家具协调</a:t>
            </a:r>
            <a:endParaRPr lang="en-US" sz="1600"/>
          </a:p>
        </p:txBody>
      </p:sp>
      <p:sp>
        <p:nvSpPr>
          <p:cNvPr id="6" name="diagram-label"/>
          <p:cNvSpPr txBox="1"/>
          <p:nvPr/>
        </p:nvSpPr>
        <p:spPr>
          <a:xfrm>
            <a:off x="7112000" y="17780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典型街道横断面</a:t>
            </a:r>
            <a:endParaRPr lang="en-US" sz="1300"/>
          </a:p>
        </p:txBody>
      </p:sp>
      <p:sp>
        <p:nvSpPr>
          <p:cNvPr id="7" name="bldg-left"/>
          <p:cNvSpPr/>
          <p:nvPr/>
        </p:nvSpPr>
        <p:spPr>
          <a:xfrm>
            <a:off x="7112000" y="2159000"/>
            <a:ext cx="762000" cy="20320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8" name="sw-left"/>
          <p:cNvSpPr/>
          <p:nvPr/>
        </p:nvSpPr>
        <p:spPr>
          <a:xfrm>
            <a:off x="7874000" y="2159000"/>
            <a:ext cx="635000" cy="20320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9" name="grass-left"/>
          <p:cNvSpPr/>
          <p:nvPr/>
        </p:nvSpPr>
        <p:spPr>
          <a:xfrm>
            <a:off x="8509000" y="2159000"/>
            <a:ext cx="254000" cy="2032000"/>
          </a:xfrm>
          <a:prstGeom prst="rect">
            <a:avLst/>
          </a:prstGeom>
          <a:solidFill>
            <a:srgbClr val="A7F3D0"/>
          </a:solidFill>
          <a:ln>
            <a:noFill/>
          </a:ln>
        </p:spPr>
      </p:sp>
      <p:sp>
        <p:nvSpPr>
          <p:cNvPr id="10" name="road"/>
          <p:cNvSpPr/>
          <p:nvPr/>
        </p:nvSpPr>
        <p:spPr>
          <a:xfrm>
            <a:off x="8763000" y="2159000"/>
            <a:ext cx="1016000" cy="203200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1" name="median"/>
          <p:cNvSpPr/>
          <p:nvPr/>
        </p:nvSpPr>
        <p:spPr>
          <a:xfrm>
            <a:off x="9779000" y="2159000"/>
            <a:ext cx="152400" cy="2032000"/>
          </a:xfrm>
          <a:prstGeom prst="rect">
            <a:avLst/>
          </a:prstGeom>
          <a:solidFill>
            <a:srgbClr val="6EE7B7"/>
          </a:solidFill>
          <a:ln>
            <a:noFill/>
          </a:ln>
        </p:spPr>
      </p:sp>
      <p:sp>
        <p:nvSpPr>
          <p:cNvPr id="12" name="road-right"/>
          <p:cNvSpPr/>
          <p:nvPr/>
        </p:nvSpPr>
        <p:spPr>
          <a:xfrm>
            <a:off x="9931400" y="2159000"/>
            <a:ext cx="1016000" cy="203200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3" name="grass-right"/>
          <p:cNvSpPr/>
          <p:nvPr/>
        </p:nvSpPr>
        <p:spPr>
          <a:xfrm>
            <a:off x="10947400" y="2159000"/>
            <a:ext cx="254000" cy="2032000"/>
          </a:xfrm>
          <a:prstGeom prst="rect">
            <a:avLst/>
          </a:prstGeom>
          <a:solidFill>
            <a:srgbClr val="A7F3D0"/>
          </a:solidFill>
          <a:ln>
            <a:noFill/>
          </a:ln>
        </p:spPr>
      </p:sp>
      <p:sp>
        <p:nvSpPr>
          <p:cNvPr id="14" name="sw-right"/>
          <p:cNvSpPr/>
          <p:nvPr/>
        </p:nvSpPr>
        <p:spPr>
          <a:xfrm>
            <a:off x="11201400" y="2159000"/>
            <a:ext cx="635000" cy="20320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5" name="labels"/>
          <p:cNvSpPr txBox="1"/>
          <p:nvPr/>
        </p:nvSpPr>
        <p:spPr>
          <a:xfrm>
            <a:off x="7112000" y="4318000"/>
            <a:ext cx="482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6B7280"/>
                </a:solidFill>
                <a:latin typeface="MiSans"/>
                <a:ea typeface="MiSans"/>
              </a:rPr>
              <a:t>建筑 | 人行道 | 绿化带 | 车行道 | 中分带 | 车行道 | 绿化带 | 人行道</a:t>
            </a:r>
            <a:endParaRPr lang="en-US" sz="1100"/>
          </a:p>
        </p:txBody>
      </p:sp>
      <p:sp>
        <p:nvSpPr>
          <p:cNvPr id="16" name="note"/>
          <p:cNvSpPr txBox="1"/>
          <p:nvPr/>
        </p:nvSpPr>
        <p:spPr>
          <a:xfrm>
            <a:off x="762000" y="5334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传统流程：CAD 平面图 → 3D 建模 → 人工评估，单一场景耗时数周。</a:t>
            </a:r>
            <a:endParaRPr lang="en-US" sz="1400"/>
          </a:p>
        </p:txBody>
      </p:sp>
      <p:sp>
        <p:nvSpPr>
          <p:cNvPr id="17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02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02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传统方法的四个瓶颈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item1-num"/>
          <p:cNvSpPr txBox="1"/>
          <p:nvPr/>
        </p:nvSpPr>
        <p:spPr>
          <a:xfrm>
            <a:off x="762000" y="1905000"/>
            <a:ext cx="63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539F"/>
                </a:solidFill>
                <a:latin typeface="MiSans"/>
                <a:ea typeface="MiSans"/>
              </a:rPr>
              <a:t>01</a:t>
            </a:r>
            <a:endParaRPr lang="en-US" sz="2800"/>
          </a:p>
        </p:txBody>
      </p:sp>
      <p:sp>
        <p:nvSpPr>
          <p:cNvPr id="6" name="item1"/>
          <p:cNvSpPr txBox="1"/>
          <p:nvPr/>
        </p:nvSpPr>
        <p:spPr>
          <a:xfrm>
            <a:off x="1524000" y="19050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1F2937"/>
                </a:solidFill>
                <a:latin typeface="MiSans"/>
                <a:ea typeface="MiSans"/>
              </a:rPr>
              <a:t>建模效率低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手工 3D 建模一座街区需要数周，难以快速迭代多种方案。</a:t>
            </a:r>
            <a:endParaRPr lang="en-US" sz="1600"/>
          </a:p>
        </p:txBody>
      </p:sp>
      <p:sp>
        <p:nvSpPr>
          <p:cNvPr id="7" name="divider1"/>
          <p:cNvSpPr/>
          <p:nvPr>
            <p:extLst>
              <p:ext uri="{F5677B7D-0D2A-4D9B-9A5C-6D8D7D0E5A5D}">
                <pptd:line encoding="base64url">eyJjdXJ2ZSI6InJvdW5kIiwicG9pbnRzIjoiMCwwIDg0MCwwIiwidmlld0JveCI6Wzg0MCwxXX0</pptd:line>
              </p:ext>
            </p:extLst>
          </p:nvPr>
        </p:nvSpPr>
        <p:spPr>
          <a:xfrm>
            <a:off x="762000" y="2921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8" name="item2-num"/>
          <p:cNvSpPr txBox="1"/>
          <p:nvPr/>
        </p:nvSpPr>
        <p:spPr>
          <a:xfrm>
            <a:off x="762000" y="3175000"/>
            <a:ext cx="63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539F"/>
                </a:solidFill>
                <a:latin typeface="MiSans"/>
                <a:ea typeface="MiSans"/>
              </a:rPr>
              <a:t>02</a:t>
            </a:r>
            <a:endParaRPr lang="en-US" sz="2800"/>
          </a:p>
        </p:txBody>
      </p:sp>
      <p:sp>
        <p:nvSpPr>
          <p:cNvPr id="9" name="item2"/>
          <p:cNvSpPr txBox="1"/>
          <p:nvPr/>
        </p:nvSpPr>
        <p:spPr>
          <a:xfrm>
            <a:off x="1524000" y="31750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1F2937"/>
                </a:solidFill>
                <a:latin typeface="MiSans"/>
                <a:ea typeface="MiSans"/>
              </a:rPr>
              <a:t>方案探索受限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设计师只能尝试少数几种布局，无法系统性地覆盖参数空间。</a:t>
            </a:r>
            <a:endParaRPr lang="en-US" sz="1600"/>
          </a:p>
        </p:txBody>
      </p:sp>
      <p:sp>
        <p:nvSpPr>
          <p:cNvPr id="10" name="divider2"/>
          <p:cNvSpPr/>
          <p:nvPr>
            <p:extLst>
              <p:ext uri="{F5677B7D-0D2A-4D9B-9A5C-6D8D7D0E5A5D}">
                <pptd:line encoding="base64url">eyJjdXJ2ZSI6InJvdW5kIiwicG9pbnRzIjoiMCwwIDg0MCwwIiwidmlld0JveCI6Wzg0MCwxXX0</pptd:line>
              </p:ext>
            </p:extLst>
          </p:nvPr>
        </p:nvSpPr>
        <p:spPr>
          <a:xfrm>
            <a:off x="762000" y="4191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1" name="item3-num"/>
          <p:cNvSpPr txBox="1"/>
          <p:nvPr/>
        </p:nvSpPr>
        <p:spPr>
          <a:xfrm>
            <a:off x="762000" y="4445000"/>
            <a:ext cx="63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539F"/>
                </a:solidFill>
                <a:latin typeface="MiSans"/>
                <a:ea typeface="MiSans"/>
              </a:rPr>
              <a:t>03</a:t>
            </a:r>
            <a:endParaRPr lang="en-US" sz="2800"/>
          </a:p>
        </p:txBody>
      </p:sp>
      <p:sp>
        <p:nvSpPr>
          <p:cNvPr id="12" name="item3"/>
          <p:cNvSpPr txBox="1"/>
          <p:nvPr/>
        </p:nvSpPr>
        <p:spPr>
          <a:xfrm>
            <a:off x="1524000" y="44450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1F2937"/>
                </a:solidFill>
                <a:latin typeface="MiSans"/>
                <a:ea typeface="MiSans"/>
              </a:rPr>
              <a:t>评价缺乏量化标准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"好看"、"舒服"难以度量，不同评审标准不一。</a:t>
            </a:r>
            <a:endParaRPr lang="en-US" sz="1600"/>
          </a:p>
        </p:txBody>
      </p:sp>
      <p:sp>
        <p:nvSpPr>
          <p:cNvPr id="13" name="divider3"/>
          <p:cNvSpPr/>
          <p:nvPr>
            <p:extLst>
              <p:ext uri="{F5677B7D-0D2A-4D9B-9A5C-6D8D7D0E5A5D}">
                <pptd:line encoding="base64url">eyJjdXJ2ZSI6InJvdW5kIiwicG9pbnRzIjoiMCwwIDg0MCwwIiwidmlld0JveCI6Wzg0MCwxXX0</pptd:line>
              </p:ext>
            </p:extLst>
          </p:nvPr>
        </p:nvSpPr>
        <p:spPr>
          <a:xfrm>
            <a:off x="762000" y="5461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4" name="item4-num"/>
          <p:cNvSpPr txBox="1"/>
          <p:nvPr/>
        </p:nvSpPr>
        <p:spPr>
          <a:xfrm>
            <a:off x="762000" y="5715000"/>
            <a:ext cx="63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539F"/>
                </a:solidFill>
                <a:latin typeface="MiSans"/>
                <a:ea typeface="MiSans"/>
              </a:rPr>
              <a:t>04</a:t>
            </a:r>
            <a:endParaRPr lang="en-US" sz="2800"/>
          </a:p>
        </p:txBody>
      </p:sp>
      <p:sp>
        <p:nvSpPr>
          <p:cNvPr id="15" name="item4"/>
          <p:cNvSpPr txBox="1"/>
          <p:nvPr/>
        </p:nvSpPr>
        <p:spPr>
          <a:xfrm>
            <a:off x="1524000" y="5715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600" b="1">
                <a:solidFill>
                  <a:srgbClr val="1F2937"/>
                </a:solidFill>
                <a:latin typeface="MiSans"/>
                <a:ea typeface="MiSans"/>
              </a:rPr>
              <a:t>2D 到 3D 断层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平面图与三维场景脱节，设计意图难以保真落地。</a:t>
            </a:r>
            <a:endParaRPr lang="en-US" sz="1600"/>
          </a:p>
        </p:txBody>
      </p:sp>
      <p:sp>
        <p:nvSpPr>
          <p:cNvPr id="16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03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RoadGen3D 是什么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definition"/>
          <p:cNvSpPr txBox="1"/>
          <p:nvPr/>
        </p:nvSpPr>
        <p:spPr>
          <a:xfrm>
            <a:off x="762000" y="1905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2000">
                <a:solidFill>
                  <a:srgbClr val="1F2937"/>
                </a:solidFill>
                <a:latin typeface="MiSans"/>
                <a:ea typeface="MiSans"/>
              </a:rPr>
              <a:t>一个</a:t>
            </a:r>
            <a:r>
              <a:rPr lang="en-US" sz="2000" b="1">
                <a:solidFill>
                  <a:srgbClr val="00539F"/>
                </a:solidFill>
                <a:latin typeface="MiSans"/>
                <a:ea typeface="MiSans"/>
              </a:rPr>
              <a:t>规则/约束驱动、AI 辅助</a:t>
            </a:r>
            <a:r>
              <a:rPr lang="en-US" sz="2000">
                <a:solidFill>
                  <a:srgbClr val="1F2937"/>
                </a:solidFill>
                <a:latin typeface="MiSans"/>
                <a:ea typeface="MiSans"/>
              </a:rPr>
              <a:t>的 3D 街道场景生成与评价框架。</a:t>
            </a:r>
            <a:endParaRPr lang="en-US" sz="2000"/>
          </a:p>
        </p:txBody>
      </p:sp>
      <p:sp>
        <p:nvSpPr>
          <p:cNvPr id="6" name="kw1-bg"/>
          <p:cNvSpPr/>
          <p:nvPr/>
        </p:nvSpPr>
        <p:spPr>
          <a:xfrm>
            <a:off x="762000" y="3048000"/>
            <a:ext cx="3302000" cy="1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7" name="kw1"/>
          <p:cNvSpPr txBox="1"/>
          <p:nvPr/>
        </p:nvSpPr>
        <p:spPr>
          <a:xfrm>
            <a:off x="1016000" y="3175000"/>
            <a:ext cx="279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0539F"/>
                </a:solidFill>
                <a:latin typeface="MiSans"/>
                <a:ea typeface="MiSans"/>
              </a:rPr>
              <a:t>可解释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生成过程透明，规则可追溯</a:t>
            </a:r>
            <a:endParaRPr lang="en-US" sz="1600"/>
          </a:p>
        </p:txBody>
      </p:sp>
      <p:sp>
        <p:nvSpPr>
          <p:cNvPr id="8" name="kw2-bg"/>
          <p:cNvSpPr/>
          <p:nvPr/>
        </p:nvSpPr>
        <p:spPr>
          <a:xfrm>
            <a:off x="4445000" y="3048000"/>
            <a:ext cx="3302000" cy="1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9" name="kw2"/>
          <p:cNvSpPr txBox="1"/>
          <p:nvPr/>
        </p:nvSpPr>
        <p:spPr>
          <a:xfrm>
            <a:off x="4699000" y="3175000"/>
            <a:ext cx="279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0539F"/>
                </a:solidFill>
                <a:latin typeface="MiSans"/>
                <a:ea typeface="MiSans"/>
              </a:rPr>
              <a:t>可评价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多维度量化评分，有据可依</a:t>
            </a:r>
            <a:endParaRPr lang="en-US" sz="1600"/>
          </a:p>
        </p:txBody>
      </p:sp>
      <p:sp>
        <p:nvSpPr>
          <p:cNvPr id="10" name="kw3-bg"/>
          <p:cNvSpPr/>
          <p:nvPr/>
        </p:nvSpPr>
        <p:spPr>
          <a:xfrm>
            <a:off x="8128000" y="3048000"/>
            <a:ext cx="3302000" cy="127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" name="kw3"/>
          <p:cNvSpPr txBox="1"/>
          <p:nvPr/>
        </p:nvSpPr>
        <p:spPr>
          <a:xfrm>
            <a:off x="8382000" y="3175000"/>
            <a:ext cx="279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0539F"/>
                </a:solidFill>
                <a:latin typeface="MiSans"/>
                <a:ea typeface="MiSans"/>
              </a:rPr>
              <a:t>可迭代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评分反馈驱动持续优化</a:t>
            </a:r>
            <a:endParaRPr lang="en-US" sz="1600"/>
          </a:p>
        </p:txBody>
      </p:sp>
      <p:sp>
        <p:nvSpPr>
          <p:cNvPr id="12" name="note"/>
          <p:cNvSpPr txBox="1"/>
          <p:nvPr/>
        </p:nvSpPr>
        <p:spPr>
          <a:xfrm>
            <a:off x="762000" y="4826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核心思想：不直接从输入跳到 3D 网格，而是经过</a:t>
            </a:r>
            <a:r>
              <a:rPr lang="en-US" sz="1600" b="1">
                <a:solidFill>
                  <a:srgbClr val="1F2937"/>
                </a:solidFill>
                <a:latin typeface="MiSans"/>
                <a:ea typeface="MiSans"/>
              </a:rPr>
              <a:t>显式中间表示</a:t>
            </a: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 —</a:t>
            </a:r>
            <a:endParaRPr lang="en-US" sz="1600"/>
          </a:p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1F2937"/>
                </a:solidFill>
                <a:latin typeface="MiSans"/>
                <a:ea typeface="MiSans"/>
              </a:rPr>
              <a:t>StreetProgram → ConstraintSet → LayoutSolver → scene_layout.json → scene.glb</a:t>
            </a:r>
            <a:endParaRPr lang="en-US" sz="1600"/>
          </a:p>
        </p:txBody>
      </p:sp>
      <p:sp>
        <p:nvSpPr>
          <p:cNvPr id="13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04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04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四层架构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graphicFrame>
        <p:nvGraphicFramePr>
          <p:cNvPr id="5" name="arch-table"/>
          <p:cNvGraphicFramePr>
            <a:graphicFrameLocks noGrp="1"/>
          </p:cNvGraphicFramePr>
          <p:nvPr/>
        </p:nvGraphicFramePr>
        <p:xfrm>
          <a:off x="762000" y="1905000"/>
          <a:ext cx="10668000" cy="3556000"/>
        </p:xfrm>
        <a:graphic>
          <a:graphicData uri="http://schemas.openxmlformats.org/drawingml/2006/table">
            <a:tbl>
              <a:tblPr/>
              <a:tblGrid>
                <a:gridCol w="2346960"/>
                <a:gridCol w="3733800"/>
                <a:gridCol w="4587240"/>
              </a:tblGrid>
              <a:tr h="64008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 b="1">
                          <a:solidFill>
                            <a:srgbClr val="00539F"/>
                          </a:solidFill>
                          <a:latin typeface="Times New Roman"/>
                          <a:ea typeface="Times New Roman"/>
                        </a:rPr>
                        <a:t>层级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0539F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 b="1">
                          <a:solidFill>
                            <a:srgbClr val="00539F"/>
                          </a:solidFill>
                          <a:latin typeface="Times New Roman"/>
                          <a:ea typeface="Times New Roman"/>
                        </a:rPr>
                        <a:t>职责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0539F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 b="1">
                          <a:solidFill>
                            <a:srgbClr val="00539F"/>
                          </a:solidFill>
                          <a:latin typeface="Times New Roman"/>
                          <a:ea typeface="Times New Roman"/>
                        </a:rPr>
                        <a:t>关键技术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0539F"/>
                      </a:solidFill>
                    </a:lnB>
                    <a:noFill/>
                  </a:tcPr>
                </a:tc>
              </a:tr>
              <a:tr h="72898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Web 交互层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用户交互、3D 可视化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Three.js, Vite, TypeScript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72898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API 层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业务逻辑编排、任务队列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FastAPI, Pydantic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72898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引擎层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场景生成、约束求解、布局优化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Python, NumPy, CLIP, PuLP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72898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评估层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多维度质量评估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1400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road-metrics (Submodule)</a:t>
                      </a:r>
                      <a:endParaRPr lang="en-US" sz="14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评估层 road-metrics 为独立 Git Submodule，可单独安装使用。</a:t>
            </a:r>
            <a:endParaRPr lang="en-US" sz="1400"/>
          </a:p>
        </p:txBody>
      </p:sp>
      <p:sp>
        <p:nvSpPr>
          <p:cNvPr id="7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05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05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核心工作流：三步生成一条街道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s1-bg"/>
          <p:cNvSpPr/>
          <p:nvPr/>
        </p:nvSpPr>
        <p:spPr>
          <a:xfrm>
            <a:off x="762000" y="2032000"/>
            <a:ext cx="3048000" cy="17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" name="s1-title"/>
          <p:cNvSpPr txBox="1"/>
          <p:nvPr/>
        </p:nvSpPr>
        <p:spPr>
          <a:xfrm>
            <a:off x="1016000" y="2159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539F"/>
                </a:solidFill>
                <a:latin typeface="MiSans"/>
                <a:ea typeface="MiSans"/>
              </a:rPr>
              <a:t>① 输入</a:t>
            </a:r>
            <a:endParaRPr lang="en-US" sz="1800"/>
          </a:p>
        </p:txBody>
      </p:sp>
      <p:sp>
        <p:nvSpPr>
          <p:cNvPr id="7" name="s1-body"/>
          <p:cNvSpPr txBox="1"/>
          <p:nvPr/>
        </p:nvSpPr>
        <p:spPr>
          <a:xfrm>
            <a:off x="1016000" y="26035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OSM 地图数据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参考平面标注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场景目录 / 模板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自然语言描述（可选）</a:t>
            </a:r>
            <a:endParaRPr lang="en-US" sz="1400"/>
          </a:p>
        </p:txBody>
      </p:sp>
      <p:sp>
        <p:nvSpPr>
          <p:cNvPr id="8" name="arrow1"/>
          <p:cNvSpPr/>
          <p:nvPr>
            <p:extLst>
              <p:ext uri="{F5677B7D-0D2A-4D9B-9A5C-6D8D7D0E5A5D}">
                <pptd:line encoding="base64url">eyJjdXJ2ZSI6InJvdW5kIiwicG9pbnRzIjoiMCwwIDM1LDAiLCJ2aWV3Qm94IjpbNDAsMl19</pptd:line>
              </p:ext>
            </p:extLst>
          </p:nvPr>
        </p:nvSpPr>
        <p:spPr>
          <a:xfrm>
            <a:off x="3810000" y="2857500"/>
            <a:ext cx="508000" cy="25400"/>
          </a:xfrm>
          <a:custGeom>
            <a:avLst/>
            <a:gdLst/>
            <a:ahLst/>
            <a:cxnLst/>
            <a:rect l="l" t="t" r="r" b="b"/>
            <a:pathLst>
              <a:path w="40" h="2">
                <a:moveTo>
                  <a:pt x="0" y="0"/>
                </a:moveTo>
                <a:lnTo>
                  <a:pt x="35" y="0"/>
                </a:lnTo>
              </a:path>
            </a:pathLst>
          </a:custGeom>
          <a:noFill/>
          <a:ln w="25400" cap="rnd">
            <a:solidFill>
              <a:srgbClr val="00539F"/>
            </a:solidFill>
            <a:round/>
            <a:tailEnd type="arrow"/>
          </a:ln>
        </p:spPr>
      </p:sp>
      <p:sp>
        <p:nvSpPr>
          <p:cNvPr id="9" name="s2-bg"/>
          <p:cNvSpPr/>
          <p:nvPr/>
        </p:nvSpPr>
        <p:spPr>
          <a:xfrm>
            <a:off x="4318000" y="2032000"/>
            <a:ext cx="3048000" cy="17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" name="s2-title"/>
          <p:cNvSpPr txBox="1"/>
          <p:nvPr/>
        </p:nvSpPr>
        <p:spPr>
          <a:xfrm>
            <a:off x="4572000" y="2159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539F"/>
                </a:solidFill>
                <a:latin typeface="MiSans"/>
                <a:ea typeface="MiSans"/>
              </a:rPr>
              <a:t>② 生成</a:t>
            </a:r>
            <a:endParaRPr lang="en-US" sz="1800"/>
          </a:p>
        </p:txBody>
      </p:sp>
      <p:sp>
        <p:nvSpPr>
          <p:cNvPr id="11" name="s2-body"/>
          <p:cNvSpPr txBox="1"/>
          <p:nvPr/>
        </p:nvSpPr>
        <p:spPr>
          <a:xfrm>
            <a:off x="4572000" y="26035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道路骨架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布局求解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资产放置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建筑生成</a:t>
            </a:r>
            <a:endParaRPr lang="en-US" sz="1400"/>
          </a:p>
        </p:txBody>
      </p:sp>
      <p:sp>
        <p:nvSpPr>
          <p:cNvPr id="12" name="arrow2"/>
          <p:cNvSpPr/>
          <p:nvPr>
            <p:extLst>
              <p:ext uri="{F5677B7D-0D2A-4D9B-9A5C-6D8D7D0E5A5D}">
                <pptd:line encoding="base64url">eyJjdXJ2ZSI6InJvdW5kIiwicG9pbnRzIjoiMCwwIDM1LDAiLCJ2aWV3Qm94IjpbNDAsMl19</pptd:line>
              </p:ext>
            </p:extLst>
          </p:nvPr>
        </p:nvSpPr>
        <p:spPr>
          <a:xfrm>
            <a:off x="7366000" y="2857500"/>
            <a:ext cx="508000" cy="25400"/>
          </a:xfrm>
          <a:custGeom>
            <a:avLst/>
            <a:gdLst/>
            <a:ahLst/>
            <a:cxnLst/>
            <a:rect l="l" t="t" r="r" b="b"/>
            <a:pathLst>
              <a:path w="40" h="2">
                <a:moveTo>
                  <a:pt x="0" y="0"/>
                </a:moveTo>
                <a:lnTo>
                  <a:pt x="35" y="0"/>
                </a:lnTo>
              </a:path>
            </a:pathLst>
          </a:custGeom>
          <a:noFill/>
          <a:ln w="25400" cap="rnd">
            <a:solidFill>
              <a:srgbClr val="00539F"/>
            </a:solidFill>
            <a:round/>
            <a:tailEnd type="arrow"/>
          </a:ln>
        </p:spPr>
      </p:sp>
      <p:sp>
        <p:nvSpPr>
          <p:cNvPr id="13" name="s3-bg"/>
          <p:cNvSpPr/>
          <p:nvPr/>
        </p:nvSpPr>
        <p:spPr>
          <a:xfrm>
            <a:off x="7874000" y="2032000"/>
            <a:ext cx="3556000" cy="177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4" name="s3-title"/>
          <p:cNvSpPr txBox="1"/>
          <p:nvPr/>
        </p:nvSpPr>
        <p:spPr>
          <a:xfrm>
            <a:off x="8128000" y="2159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539F"/>
                </a:solidFill>
                <a:latin typeface="MiSans"/>
                <a:ea typeface="MiSans"/>
              </a:rPr>
              <a:t>③ 评估与预览</a:t>
            </a:r>
            <a:endParaRPr lang="en-US" sz="1800"/>
          </a:p>
        </p:txBody>
      </p:sp>
      <p:sp>
        <p:nvSpPr>
          <p:cNvPr id="15" name="s3-body"/>
          <p:cNvSpPr txBox="1"/>
          <p:nvPr/>
        </p:nvSpPr>
        <p:spPr>
          <a:xfrm>
            <a:off x="8128000" y="26035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road-metrics 评分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步行性 / 安全性 / 美观性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3D Viewer 交互查看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对比与迭代优化</a:t>
            </a:r>
            <a:endParaRPr lang="en-US" sz="1400"/>
          </a:p>
        </p:txBody>
      </p:sp>
      <p:sp>
        <p:nvSpPr>
          <p:cNvPr id="16" name="out-label"/>
          <p:cNvSpPr txBox="1"/>
          <p:nvPr/>
        </p:nvSpPr>
        <p:spPr>
          <a:xfrm>
            <a:off x="762000" y="4191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输出产物</a:t>
            </a:r>
            <a:endParaRPr lang="en-US" sz="1300"/>
          </a:p>
        </p:txBody>
      </p:sp>
      <p:sp>
        <p:nvSpPr>
          <p:cNvPr id="17" name="out-box"/>
          <p:cNvSpPr/>
          <p:nvPr/>
        </p:nvSpPr>
        <p:spPr>
          <a:xfrm>
            <a:off x="3302000" y="4572000"/>
            <a:ext cx="5588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out-text"/>
          <p:cNvSpPr txBox="1"/>
          <p:nvPr/>
        </p:nvSpPr>
        <p:spPr>
          <a:xfrm>
            <a:off x="3302000" y="4572000"/>
            <a:ext cx="558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scene_layout.json  +  scene.glb  +  evaluation.json</a:t>
            </a:r>
            <a:endParaRPr lang="en-US" sz="1400"/>
          </a:p>
        </p:txBody>
      </p:sp>
      <p:sp>
        <p:nvSpPr>
          <p:cNvPr id="19" name="loop-text"/>
          <p:cNvSpPr txBox="1"/>
          <p:nvPr/>
        </p:nvSpPr>
        <p:spPr>
          <a:xfrm>
            <a:off x="762000" y="5461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评分不满意 → 自动/人工调整参数 → 重新生成 → 再次评估（闭环迭代）</a:t>
            </a:r>
            <a:endParaRPr lang="en-US" sz="1400"/>
          </a:p>
        </p:txBody>
      </p:sp>
      <p:sp>
        <p:nvSpPr>
          <p:cNvPr id="20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06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06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A/B 语义设计层：解耦空间与风格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a-label"/>
          <p:cNvSpPr txBox="1"/>
          <p:nvPr/>
        </p:nvSpPr>
        <p:spPr>
          <a:xfrm>
            <a:off x="762000" y="1905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539F"/>
                </a:solidFill>
                <a:latin typeface="MiSans"/>
                <a:ea typeface="MiSans"/>
              </a:rPr>
              <a:t>A 层：骨架功能设计</a:t>
            </a:r>
            <a:endParaRPr lang="en-US" sz="2200"/>
          </a:p>
        </p:txBody>
      </p:sp>
      <p:sp>
        <p:nvSpPr>
          <p:cNvPr id="6" name="a-body"/>
          <p:cNvSpPr txBox="1"/>
          <p:nvPr/>
        </p:nvSpPr>
        <p:spPr>
          <a:xfrm>
            <a:off x="762000" y="2476500"/>
            <a:ext cx="5080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决定道路的空间结构与功能：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道路骨架与横断面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功能区划分（步行/公交/车辆）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路面标注与优先级</a:t>
            </a:r>
            <a:endParaRPr lang="en-US" sz="1500"/>
          </a:p>
        </p:txBody>
      </p:sp>
      <p:sp>
        <p:nvSpPr>
          <p:cNvPr id="7" name="a-source"/>
          <p:cNvSpPr txBox="1"/>
          <p:nvPr/>
        </p:nvSpPr>
        <p:spPr>
          <a:xfrm>
            <a:off x="762000" y="4064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来源：OSM/POI 推断、Viewer 标注、LLM 推理</a:t>
            </a:r>
            <a:endParaRPr lang="en-US" sz="1300"/>
          </a:p>
        </p:txBody>
      </p:sp>
      <p:sp>
        <p:nvSpPr>
          <p:cNvPr id="8" name="v-divider"/>
          <p:cNvSpPr/>
          <p:nvPr>
            <p:extLst>
              <p:ext uri="{F5677B7D-0D2A-4D9B-9A5C-6D8D7D0E5A5D}">
                <pptd:line encoding="base64url">eyJjdXJ2ZSI6InJvdW5kIiwicG9pbnRzIjoiMCwwIDAsMjIwIiwidmlld0JveCI6WzEsMjIwXX0</pptd:line>
              </p:ext>
            </p:extLst>
          </p:nvPr>
        </p:nvSpPr>
        <p:spPr>
          <a:xfrm>
            <a:off x="6096000" y="1905000"/>
            <a:ext cx="12700" cy="2794000"/>
          </a:xfrm>
          <a:custGeom>
            <a:avLst/>
            <a:gdLst/>
            <a:ahLst/>
            <a:cxnLst/>
            <a:rect l="l" t="t" r="r" b="b"/>
            <a:pathLst>
              <a:path w="1" h="220">
                <a:moveTo>
                  <a:pt x="0" y="0"/>
                </a:moveTo>
                <a:lnTo>
                  <a:pt x="0" y="22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9" name="b-label"/>
          <p:cNvSpPr txBox="1"/>
          <p:nvPr/>
        </p:nvSpPr>
        <p:spPr>
          <a:xfrm>
            <a:off x="6604000" y="19050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539F"/>
                </a:solidFill>
                <a:latin typeface="MiSans"/>
                <a:ea typeface="MiSans"/>
              </a:rPr>
              <a:t>B 层：街道家具主题</a:t>
            </a:r>
            <a:endParaRPr lang="en-US" sz="2200"/>
          </a:p>
        </p:txBody>
      </p:sp>
      <p:sp>
        <p:nvSpPr>
          <p:cNvPr id="10" name="b-body"/>
          <p:cNvSpPr txBox="1"/>
          <p:nvPr/>
        </p:nvSpPr>
        <p:spPr>
          <a:xfrm>
            <a:off x="6604000" y="2476500"/>
            <a:ext cx="482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决定场景的视觉与设施风格：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家具密度与资产组合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建筑/家具生成偏好</a:t>
            </a:r>
            <a:endParaRPr lang="en-US" sz="1500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材质与渲染风格</a:t>
            </a:r>
            <a:endParaRPr lang="en-US" sz="1500"/>
          </a:p>
        </p:txBody>
      </p:sp>
      <p:sp>
        <p:nvSpPr>
          <p:cNvPr id="11" name="b-source"/>
          <p:cNvSpPr txBox="1"/>
          <p:nvPr/>
        </p:nvSpPr>
        <p:spPr>
          <a:xfrm>
            <a:off x="6604000" y="4064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来源：设计目标、LLM 推理、A 层回退推荐</a:t>
            </a:r>
            <a:endParaRPr lang="en-US" sz="1300"/>
          </a:p>
        </p:txBody>
      </p:sp>
      <p:sp>
        <p:nvSpPr>
          <p:cNvPr id="12" name="priority-bg"/>
          <p:cNvSpPr/>
          <p:nvPr/>
        </p:nvSpPr>
        <p:spPr>
          <a:xfrm>
            <a:off x="762000" y="4826000"/>
            <a:ext cx="10668000" cy="635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3" name="priority"/>
          <p:cNvSpPr txBox="1"/>
          <p:nvPr/>
        </p:nvSpPr>
        <p:spPr>
          <a:xfrm>
            <a:off x="1016000" y="48260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冲突解决优先级：</a:t>
            </a: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人工标注 &gt; LLM &gt; OSM/POI 自动推断</a:t>
            </a:r>
            <a:endParaRPr lang="en-US" sz="1500"/>
          </a:p>
        </p:txBody>
      </p:sp>
      <p:sp>
        <p:nvSpPr>
          <p:cNvPr id="14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07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07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生成引擎：从规则到 3D 场景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p1-bg"/>
          <p:cNvSpPr/>
          <p:nvPr/>
        </p:nvSpPr>
        <p:spPr>
          <a:xfrm>
            <a:off x="762000" y="2032000"/>
            <a:ext cx="3302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9F"/>
            </a:solidFill>
          </a:ln>
        </p:spPr>
      </p:sp>
      <p:sp>
        <p:nvSpPr>
          <p:cNvPr id="6" name="p1"/>
          <p:cNvSpPr txBox="1"/>
          <p:nvPr/>
        </p:nvSpPr>
        <p:spPr>
          <a:xfrm>
            <a:off x="952500" y="2159000"/>
            <a:ext cx="2921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539F"/>
                </a:solidFill>
                <a:latin typeface="MiSans"/>
                <a:ea typeface="MiSans"/>
              </a:rPr>
              <a:t>StreetProgram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声明式街道描述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道路类型、横断面、功能带、家具需求</a:t>
            </a:r>
            <a:endParaRPr lang="en-US" sz="1600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encoding="base64url">eyJjdXJ2ZSI6InJvdW5kIiwicG9pbnRzIjoiMCwwIDM1LDAiLCJ2aWV3Qm94IjpbNDAsMl19</pptd:line>
              </p:ext>
            </p:extLst>
          </p:nvPr>
        </p:nvSpPr>
        <p:spPr>
          <a:xfrm>
            <a:off x="4064000" y="2730500"/>
            <a:ext cx="508000" cy="25400"/>
          </a:xfrm>
          <a:custGeom>
            <a:avLst/>
            <a:gdLst/>
            <a:ahLst/>
            <a:cxnLst/>
            <a:rect l="l" t="t" r="r" b="b"/>
            <a:pathLst>
              <a:path w="40" h="2">
                <a:moveTo>
                  <a:pt x="0" y="0"/>
                </a:moveTo>
                <a:lnTo>
                  <a:pt x="35" y="0"/>
                </a:lnTo>
              </a:path>
            </a:pathLst>
          </a:custGeom>
          <a:noFill/>
          <a:ln w="25400" cap="rnd">
            <a:solidFill>
              <a:srgbClr val="00539F"/>
            </a:solidFill>
            <a:round/>
            <a:tailEnd type="arrow"/>
          </a:ln>
        </p:spPr>
      </p:sp>
      <p:sp>
        <p:nvSpPr>
          <p:cNvPr id="8" name="p2-bg"/>
          <p:cNvSpPr/>
          <p:nvPr/>
        </p:nvSpPr>
        <p:spPr>
          <a:xfrm>
            <a:off x="4572000" y="2032000"/>
            <a:ext cx="3302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9F"/>
            </a:solidFill>
          </a:ln>
        </p:spPr>
      </p:sp>
      <p:sp>
        <p:nvSpPr>
          <p:cNvPr id="9" name="p2"/>
          <p:cNvSpPr txBox="1"/>
          <p:nvPr/>
        </p:nvSpPr>
        <p:spPr>
          <a:xfrm>
            <a:off x="4762500" y="2159000"/>
            <a:ext cx="2921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539F"/>
                </a:solidFill>
                <a:latin typeface="MiSans"/>
                <a:ea typeface="MiSans"/>
              </a:rPr>
              <a:t>ConstraintSet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硬/软设计规则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最小间距、POI 绑定、同比例缩放</a:t>
            </a:r>
            <a:endParaRPr lang="en-US" sz="1600"/>
          </a:p>
        </p:txBody>
      </p:sp>
      <p:sp>
        <p:nvSpPr>
          <p:cNvPr id="10" name="a2"/>
          <p:cNvSpPr/>
          <p:nvPr>
            <p:extLst>
              <p:ext uri="{F5677B7D-0D2A-4D9B-9A5C-6D8D7D0E5A5D}">
                <pptd:line encoding="base64url">eyJjdXJ2ZSI6InJvdW5kIiwicG9pbnRzIjoiMCwwIDM1LDAiLCJ2aWV3Qm94IjpbNDAsMl19</pptd:line>
              </p:ext>
            </p:extLst>
          </p:nvPr>
        </p:nvSpPr>
        <p:spPr>
          <a:xfrm>
            <a:off x="7874000" y="2730500"/>
            <a:ext cx="508000" cy="25400"/>
          </a:xfrm>
          <a:custGeom>
            <a:avLst/>
            <a:gdLst/>
            <a:ahLst/>
            <a:cxnLst/>
            <a:rect l="l" t="t" r="r" b="b"/>
            <a:pathLst>
              <a:path w="40" h="2">
                <a:moveTo>
                  <a:pt x="0" y="0"/>
                </a:moveTo>
                <a:lnTo>
                  <a:pt x="35" y="0"/>
                </a:lnTo>
              </a:path>
            </a:pathLst>
          </a:custGeom>
          <a:noFill/>
          <a:ln w="25400" cap="rnd">
            <a:solidFill>
              <a:srgbClr val="00539F"/>
            </a:solidFill>
            <a:round/>
            <a:tailEnd type="arrow"/>
          </a:ln>
        </p:spPr>
      </p:sp>
      <p:sp>
        <p:nvSpPr>
          <p:cNvPr id="11" name="p3-bg"/>
          <p:cNvSpPr/>
          <p:nvPr/>
        </p:nvSpPr>
        <p:spPr>
          <a:xfrm>
            <a:off x="8382000" y="2032000"/>
            <a:ext cx="3048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9F"/>
            </a:solidFill>
          </a:ln>
        </p:spPr>
      </p:sp>
      <p:sp>
        <p:nvSpPr>
          <p:cNvPr id="12" name="p3"/>
          <p:cNvSpPr txBox="1"/>
          <p:nvPr/>
        </p:nvSpPr>
        <p:spPr>
          <a:xfrm>
            <a:off x="8572500" y="2159000"/>
            <a:ext cx="2667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539F"/>
                </a:solidFill>
                <a:latin typeface="MiSans"/>
                <a:ea typeface="MiSans"/>
              </a:rPr>
              <a:t>LayoutSolver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布局优化 + 碰撞检测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输出 slot_plans、conflicts、rule_eval</a:t>
            </a:r>
            <a:endParaRPr lang="en-US" sz="1600"/>
          </a:p>
        </p:txBody>
      </p:sp>
      <p:sp>
        <p:nvSpPr>
          <p:cNvPr id="13" name="algo-title"/>
          <p:cNvSpPr txBox="1"/>
          <p:nvPr/>
        </p:nvSpPr>
        <p:spPr>
          <a:xfrm>
            <a:off x="762000" y="4064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核心算法特性</a:t>
            </a:r>
            <a:endParaRPr lang="en-US" sz="1600"/>
          </a:p>
        </p:txBody>
      </p:sp>
      <p:sp>
        <p:nvSpPr>
          <p:cNvPr id="14" name="algo-body"/>
          <p:cNvSpPr txBox="1"/>
          <p:nvPr/>
        </p:nvSpPr>
        <p:spPr>
          <a:xfrm>
            <a:off x="762000" y="45085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多矩形碰撞检测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 — 复杂 3D 网格分解为多个紧密边界框，粗检测+精检测两阶段，L 形长椅、带顶棚公交站可"咬合"排列</a:t>
            </a:r>
            <a:endParaRPr lang="en-US" sz="1400"/>
          </a:p>
          <a:p>
            <a:pPr algn="l">
              <a:lnSpc>
                <a:spcPct val="17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动态间距算法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 — 树/路灯用均匀分布求解器，长椅/垃圾桶用紧凑装箱求解器，保持原始长宽比不拉伸</a:t>
            </a:r>
            <a:endParaRPr lang="en-US" sz="1400"/>
          </a:p>
          <a:p>
            <a:pPr algn="l">
              <a:lnSpc>
                <a:spcPct val="17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资产检索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 — CLIP 文本编码 + FAISS 向量检索，按语义匹配放置 3D 资产</a:t>
            </a:r>
            <a:endParaRPr lang="en-US" sz="1400"/>
          </a:p>
        </p:txBody>
      </p:sp>
      <p:sp>
        <p:nvSpPr>
          <p:cNvPr id="15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08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08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评估体系：如何评价一条街道？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dim1-bar"/>
          <p:cNvSpPr/>
          <p:nvPr/>
        </p:nvSpPr>
        <p:spPr>
          <a:xfrm>
            <a:off x="762000" y="2032000"/>
            <a:ext cx="101600" cy="1016000"/>
          </a:xfrm>
          <a:prstGeom prst="rect">
            <a:avLst/>
          </a:prstGeom>
          <a:solidFill>
            <a:srgbClr val="00539F"/>
          </a:solidFill>
          <a:ln>
            <a:noFill/>
          </a:ln>
        </p:spPr>
      </p:sp>
      <p:sp>
        <p:nvSpPr>
          <p:cNvPr id="6" name="dim1"/>
          <p:cNvSpPr txBox="1"/>
          <p:nvPr/>
        </p:nvSpPr>
        <p:spPr>
          <a:xfrm>
            <a:off x="1066800" y="2032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539F"/>
                </a:solidFill>
                <a:latin typeface="MiSans"/>
                <a:ea typeface="MiSans"/>
              </a:rPr>
              <a:t>Walkability 步行性</a:t>
            </a:r>
            <a:r>
              <a:rPr lang="en-US" sz="1600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权重 45%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人行道宽度、无障碍设施、步行舒适度、树荫覆盖</a:t>
            </a:r>
            <a:endParaRPr lang="en-US" sz="1600"/>
          </a:p>
        </p:txBody>
      </p:sp>
      <p:sp>
        <p:nvSpPr>
          <p:cNvPr id="7" name="dim2-bar"/>
          <p:cNvSpPr/>
          <p:nvPr/>
        </p:nvSpPr>
        <p:spPr>
          <a:xfrm>
            <a:off x="762000" y="3302000"/>
            <a:ext cx="101600" cy="10160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8" name="dim2"/>
          <p:cNvSpPr txBox="1"/>
          <p:nvPr/>
        </p:nvSpPr>
        <p:spPr>
          <a:xfrm>
            <a:off x="1066800" y="3302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539F"/>
                </a:solidFill>
                <a:latin typeface="MiSans"/>
                <a:ea typeface="MiSans"/>
              </a:rPr>
              <a:t>Safety 安全性</a:t>
            </a:r>
            <a:r>
              <a:rPr lang="en-US" sz="1600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权重 35%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交通隔离、照明设施、安全设施覆盖、交叉口设计</a:t>
            </a:r>
            <a:endParaRPr lang="en-US" sz="1600"/>
          </a:p>
        </p:txBody>
      </p:sp>
      <p:sp>
        <p:nvSpPr>
          <p:cNvPr id="9" name="dim3-bar"/>
          <p:cNvSpPr/>
          <p:nvPr/>
        </p:nvSpPr>
        <p:spPr>
          <a:xfrm>
            <a:off x="762000" y="4572000"/>
            <a:ext cx="101600" cy="1016000"/>
          </a:xfrm>
          <a:prstGeom prst="rect">
            <a:avLst/>
          </a:prstGeom>
          <a:solidFill>
            <a:srgbClr val="9CA3AF"/>
          </a:solidFill>
          <a:ln>
            <a:noFill/>
          </a:ln>
        </p:spPr>
      </p:sp>
      <p:sp>
        <p:nvSpPr>
          <p:cNvPr id="10" name="dim3"/>
          <p:cNvSpPr txBox="1"/>
          <p:nvPr/>
        </p:nvSpPr>
        <p:spPr>
          <a:xfrm>
            <a:off x="1066800" y="4572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539F"/>
                </a:solidFill>
                <a:latin typeface="MiSans"/>
                <a:ea typeface="MiSans"/>
              </a:rPr>
              <a:t>Beauty 美观性</a:t>
            </a:r>
            <a:r>
              <a:rPr lang="en-US" sz="1600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权重 20%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植物配置协调性、街道家具搭配、整体视觉一致性</a:t>
            </a:r>
            <a:endParaRPr lang="en-US" sz="1600"/>
          </a:p>
        </p:txBody>
      </p:sp>
      <p:sp>
        <p:nvSpPr>
          <p:cNvPr id="11" name="radar-title"/>
          <p:cNvSpPr txBox="1"/>
          <p:nvPr/>
        </p:nvSpPr>
        <p:spPr>
          <a:xfrm>
            <a:off x="7112000" y="20320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可视化输出</a:t>
            </a:r>
            <a:endParaRPr lang="en-US" sz="1600"/>
          </a:p>
        </p:txBody>
      </p:sp>
      <p:sp>
        <p:nvSpPr>
          <p:cNvPr id="12" name="radar-body"/>
          <p:cNvSpPr txBox="1"/>
          <p:nvPr/>
        </p:nvSpPr>
        <p:spPr>
          <a:xfrm>
            <a:off x="7112000" y="2540000"/>
            <a:ext cx="4318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• 雷达图 — 三维度综合评分</a:t>
            </a:r>
            <a:endParaRPr lang="en-US" sz="14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• 柱状图 — 各维度横向对比</a:t>
            </a:r>
            <a:endParaRPr lang="en-US" sz="14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• 综合评分 — 加权总分 0-100</a:t>
            </a:r>
            <a:endParaRPr lang="en-US" sz="14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• 详细指标 + 改进建议</a:t>
            </a:r>
            <a:endParaRPr lang="en-US" sz="1400"/>
          </a:p>
        </p:txBody>
      </p:sp>
      <p:sp>
        <p:nvSpPr>
          <p:cNvPr id="13" name="module-note"/>
          <p:cNvSpPr txBox="1"/>
          <p:nvPr/>
        </p:nvSpPr>
        <p:spPr>
          <a:xfrm>
            <a:off x="7112000" y="48260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评估引擎 road-metrics 为独立 Git Submodule，分层设计：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提取器 → 基础指标 → 评分组合 → LLM 增强</a:t>
            </a:r>
            <a:endParaRPr lang="en-US" sz="1300"/>
          </a:p>
        </p:txBody>
      </p:sp>
      <p:sp>
        <p:nvSpPr>
          <p:cNvPr id="14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09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09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Pareto Trace：批量探索最优解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pipe"/>
          <p:cNvSpPr txBox="1"/>
          <p:nvPr/>
        </p:nvSpPr>
        <p:spPr>
          <a:xfrm>
            <a:off x="762000" y="19050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Branch Run</a:t>
            </a: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 — 从 preset / prompt 出发，生成多个候选节点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100 Sample Trace</a:t>
            </a: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 — 持续扩展 frontier，最多保留 100 个已评分样本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Pareto Search</a:t>
            </a: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 — walkability / safety / beauty 三目标搜索，保留非支配解</a:t>
            </a:r>
            <a:endParaRPr lang="en-US" sz="1500"/>
          </a:p>
        </p:txBody>
      </p:sp>
      <p:sp>
        <p:nvSpPr>
          <p:cNvPr id="6" name="retention-bg"/>
          <p:cNvSpPr/>
          <p:nvPr/>
        </p:nvSpPr>
        <p:spPr>
          <a:xfrm>
            <a:off x="762000" y="3429000"/>
            <a:ext cx="5080000" cy="101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7" name="retention"/>
          <p:cNvSpPr txBox="1"/>
          <p:nvPr/>
        </p:nvSpPr>
        <p:spPr>
          <a:xfrm>
            <a:off x="952500" y="3556000"/>
            <a:ext cx="469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Artifact 保留策略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仅保留 top-k 评分方案的 GLB，其余存 scene_layout.json 可重建</a:t>
            </a:r>
            <a:endParaRPr lang="en-US" sz="1400"/>
          </a:p>
        </p:txBody>
      </p:sp>
      <p:sp>
        <p:nvSpPr>
          <p:cNvPr id="8" name="corr-bg"/>
          <p:cNvSpPr/>
          <p:nvPr/>
        </p:nvSpPr>
        <p:spPr>
          <a:xfrm>
            <a:off x="6350000" y="3429000"/>
            <a:ext cx="5080000" cy="101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9" name="corr"/>
          <p:cNvSpPr txBox="1"/>
          <p:nvPr/>
        </p:nvSpPr>
        <p:spPr>
          <a:xfrm>
            <a:off x="6540500" y="3556000"/>
            <a:ext cx="469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相关性分析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参数 → 落地场景 → 评分，热力图 + 散点 + Feature Importance</a:t>
            </a:r>
            <a:endParaRPr lang="en-US" sz="1400"/>
          </a:p>
        </p:txBody>
      </p:sp>
      <p:sp>
        <p:nvSpPr>
          <p:cNvPr id="10" name="data-title"/>
          <p:cNvSpPr txBox="1"/>
          <p:nvPr/>
        </p:nvSpPr>
        <p:spPr>
          <a:xfrm>
            <a:off x="762000" y="4826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三层数据模型</a:t>
            </a:r>
            <a:endParaRPr lang="en-US" sz="1600"/>
          </a:p>
        </p:txBody>
      </p:sp>
      <p:sp>
        <p:nvSpPr>
          <p:cNvPr id="11" name="data-body"/>
          <p:cNvSpPr txBox="1"/>
          <p:nvPr/>
        </p:nvSpPr>
        <p:spPr>
          <a:xfrm>
            <a:off x="762000" y="52705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输入层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 preset / prompt / config_patch  →  </a:t>
            </a: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落地层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 scene_layout.json 参数抽取  →  </a:t>
            </a: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结果层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 walkability / safety / beauty / overall</a:t>
            </a:r>
            <a:endParaRPr lang="en-US" sz="1400"/>
          </a:p>
        </p:txBody>
      </p:sp>
      <p:sp>
        <p:nvSpPr>
          <p:cNvPr id="12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10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10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OSM 真实数据：从现实世界出发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osm-pipe"/>
          <p:cNvSpPr txBox="1"/>
          <p:nvPr/>
        </p:nvSpPr>
        <p:spPr>
          <a:xfrm>
            <a:off x="762000" y="19050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OSM Ingest</a:t>
            </a: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 — Overpass API 获取道路、建筑、POI 数据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Road Discovery</a:t>
            </a: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 — 按 POI 密度、长度、相关性评分候选道路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POI-Driven Cross-Section</a:t>
            </a: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 — 根据附近 POI 动态调整人行道宽度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Semantic Classification</a:t>
            </a: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 — 自动标注学校/商业/住宅/公交等语义类型</a:t>
            </a:r>
            <a:endParaRPr lang="en-US" sz="1500"/>
          </a:p>
        </p:txBody>
      </p:sp>
      <p:sp>
        <p:nvSpPr>
          <p:cNvPr id="6" name="mode-title"/>
          <p:cNvSpPr txBox="1"/>
          <p:nvPr/>
        </p:nvSpPr>
        <p:spPr>
          <a:xfrm>
            <a:off x="762000" y="3556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两种生成模式</a:t>
            </a:r>
            <a:endParaRPr lang="en-US" sz="1600"/>
          </a:p>
        </p:txBody>
      </p:sp>
      <p:sp>
        <p:nvSpPr>
          <p:cNvPr id="7" name="mode1"/>
          <p:cNvSpPr txBox="1"/>
          <p:nvPr/>
        </p:nvSpPr>
        <p:spPr>
          <a:xfrm>
            <a:off x="762000" y="40640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osm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 — 单道路聚焦模式</a:t>
            </a:r>
            <a:endParaRPr lang="en-US" sz="1400"/>
          </a:p>
          <a:p>
            <a:pPr algn="l">
              <a:lnSpc>
                <a:spcPct val="16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从 AOI 中选一条 POI 丰富的道路生成场景</a:t>
            </a:r>
            <a:endParaRPr lang="en-US" sz="1400"/>
          </a:p>
        </p:txBody>
      </p:sp>
      <p:sp>
        <p:nvSpPr>
          <p:cNvPr id="8" name="mode2"/>
          <p:cNvSpPr txBox="1"/>
          <p:nvPr/>
        </p:nvSpPr>
        <p:spPr>
          <a:xfrm>
            <a:off x="6350000" y="4064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osm_multiblock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 — 多道路语义模式</a:t>
            </a:r>
            <a:endParaRPr lang="en-US" sz="1400"/>
          </a:p>
          <a:p>
            <a:pPr algn="l">
              <a:lnSpc>
                <a:spcPct val="16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保持 AOI 为连通路网，逐段分配语义 profile</a:t>
            </a:r>
            <a:endParaRPr lang="en-US" sz="1400"/>
          </a:p>
        </p:txBody>
      </p:sp>
      <p:sp>
        <p:nvSpPr>
          <p:cNvPr id="9" name="fit-bg"/>
          <p:cNvSpPr/>
          <p:nvPr/>
        </p:nvSpPr>
        <p:spPr>
          <a:xfrm>
            <a:off x="762000" y="5207000"/>
            <a:ext cx="10668000" cy="635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" name="fit"/>
          <p:cNvSpPr txBox="1"/>
          <p:nvPr/>
        </p:nvSpPr>
        <p:spPr>
          <a:xfrm>
            <a:off x="1016000" y="5207000"/>
            <a:ext cx="1016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1F2937"/>
                </a:solidFill>
                <a:latin typeface="MiSans"/>
                <a:ea typeface="MiSans"/>
              </a:rPr>
              <a:t>社会经济匹配</a:t>
            </a: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：从 OSM landuse/amenity 推断周边社会经济状况，标记供给不足路段并自动推荐设计升级方案</a:t>
            </a:r>
            <a:endParaRPr lang="en-US" sz="1400"/>
          </a:p>
        </p:txBody>
      </p:sp>
      <p:sp>
        <p:nvSpPr>
          <p:cNvPr id="11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11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11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Viewer：交互式 3D 查看与分析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col1"/>
          <p:cNvSpPr txBox="1"/>
          <p:nvPr/>
        </p:nvSpPr>
        <p:spPr>
          <a:xfrm>
            <a:off x="762000" y="1905000"/>
            <a:ext cx="5334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3D 渲染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Three.js 实时渲染，支持轨道旋转、缩放、平移</a:t>
            </a:r>
            <a:endParaRPr lang="en-US" sz="150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评分可视化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雷达图、柱状图、综合评分一目了然</a:t>
            </a:r>
            <a:endParaRPr lang="en-US" sz="150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方案对比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多方案并列查看，历史记录回溯</a:t>
            </a:r>
            <a:endParaRPr lang="en-US" sz="1500"/>
          </a:p>
        </p:txBody>
      </p:sp>
      <p:sp>
        <p:nvSpPr>
          <p:cNvPr id="6" name="col2"/>
          <p:cNvSpPr txBox="1"/>
          <p:nvPr/>
        </p:nvSpPr>
        <p:spPr>
          <a:xfrm>
            <a:off x="6350000" y="1905000"/>
            <a:ext cx="5080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3D Pareto Scatter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X/Y/Z 对应 walkability / safety / beauty</a:t>
            </a:r>
            <a:endParaRPr lang="en-US" sz="150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溯源矩阵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展示知识来源、参数、约束的激活状态</a:t>
            </a:r>
            <a:endParaRPr lang="en-US" sz="150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>
                <a:solidFill>
                  <a:srgbClr val="1F2937"/>
                </a:solidFill>
                <a:latin typeface="MiSans"/>
                <a:ea typeface="MiSans"/>
              </a:rPr>
              <a:t>Benchmark Explorer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400">
                <a:solidFill>
                  <a:srgbClr val="6B7280"/>
                </a:solidFill>
                <a:latin typeface="MiSans"/>
                <a:ea typeface="MiSans"/>
              </a:rPr>
              <a:t>按 preset 过滤、聚类对比、参数着色</a:t>
            </a:r>
            <a:endParaRPr lang="en-US" sz="1500"/>
          </a:p>
        </p:txBody>
      </p:sp>
      <p:sp>
        <p:nvSpPr>
          <p:cNvPr id="7" name="glb-bg"/>
          <p:cNvSpPr/>
          <p:nvPr/>
        </p:nvSpPr>
        <p:spPr>
          <a:xfrm>
            <a:off x="762000" y="5334000"/>
            <a:ext cx="10668000" cy="50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8" name="glb"/>
          <p:cNvSpPr txBox="1"/>
          <p:nvPr/>
        </p:nvSpPr>
        <p:spPr>
          <a:xfrm>
            <a:off x="1016000" y="5334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1F2937"/>
                </a:solidFill>
                <a:latin typeface="MiSans"/>
                <a:ea typeface="MiSans"/>
              </a:rPr>
              <a:t>GLB 恢复策略：保留 GLB → 保留 layout JSON 可重建 → 全部丢失则重新生成</a:t>
            </a:r>
            <a:endParaRPr lang="en-US" sz="1400"/>
          </a:p>
        </p:txBody>
      </p:sp>
      <p:sp>
        <p:nvSpPr>
          <p:cNvPr id="9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12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12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六种预设场景模板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s1-bg"/>
          <p:cNvSpPr/>
          <p:nvPr/>
        </p:nvSpPr>
        <p:spPr>
          <a:xfrm>
            <a:off x="762000" y="1905000"/>
            <a:ext cx="3429000" cy="889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" name="s1"/>
          <p:cNvSpPr txBox="1"/>
          <p:nvPr/>
        </p:nvSpPr>
        <p:spPr>
          <a:xfrm>
            <a:off x="952500" y="19685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步行友好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行人优先，安全舒适</a:t>
            </a:r>
            <a:endParaRPr lang="en-US" sz="1600"/>
          </a:p>
        </p:txBody>
      </p:sp>
      <p:sp>
        <p:nvSpPr>
          <p:cNvPr id="7" name="s2-bg"/>
          <p:cNvSpPr/>
          <p:nvPr/>
        </p:nvSpPr>
        <p:spPr>
          <a:xfrm>
            <a:off x="4445000" y="1905000"/>
            <a:ext cx="3429000" cy="889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8" name="s2"/>
          <p:cNvSpPr txBox="1"/>
          <p:nvPr/>
        </p:nvSpPr>
        <p:spPr>
          <a:xfrm>
            <a:off x="4635500" y="19685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商业活力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商业活跃，人流密集</a:t>
            </a:r>
            <a:endParaRPr lang="en-US" sz="1600"/>
          </a:p>
        </p:txBody>
      </p:sp>
      <p:sp>
        <p:nvSpPr>
          <p:cNvPr id="9" name="s3-bg"/>
          <p:cNvSpPr/>
          <p:nvPr/>
        </p:nvSpPr>
        <p:spPr>
          <a:xfrm>
            <a:off x="8128000" y="1905000"/>
            <a:ext cx="3302000" cy="889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" name="s3"/>
          <p:cNvSpPr txBox="1"/>
          <p:nvPr/>
        </p:nvSpPr>
        <p:spPr>
          <a:xfrm>
            <a:off x="8318500" y="19685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公交优先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公交导向，换乘便利</a:t>
            </a:r>
            <a:endParaRPr lang="en-US" sz="1600"/>
          </a:p>
        </p:txBody>
      </p:sp>
      <p:sp>
        <p:nvSpPr>
          <p:cNvPr id="11" name="s4-bg"/>
          <p:cNvSpPr/>
          <p:nvPr/>
        </p:nvSpPr>
        <p:spPr>
          <a:xfrm>
            <a:off x="762000" y="3048000"/>
            <a:ext cx="3429000" cy="889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2" name="s4"/>
          <p:cNvSpPr txBox="1"/>
          <p:nvPr/>
        </p:nvSpPr>
        <p:spPr>
          <a:xfrm>
            <a:off x="952500" y="31115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公园景观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绿化为主，休闲舒适</a:t>
            </a:r>
            <a:endParaRPr lang="en-US" sz="1600"/>
          </a:p>
        </p:txBody>
      </p:sp>
      <p:sp>
        <p:nvSpPr>
          <p:cNvPr id="13" name="s5-bg"/>
          <p:cNvSpPr/>
          <p:nvPr/>
        </p:nvSpPr>
        <p:spPr>
          <a:xfrm>
            <a:off x="4445000" y="3048000"/>
            <a:ext cx="3429000" cy="889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4" name="s5"/>
          <p:cNvSpPr txBox="1"/>
          <p:nvPr/>
        </p:nvSpPr>
        <p:spPr>
          <a:xfrm>
            <a:off x="4635500" y="31115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安静居住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住宅区安静，绿树成荫</a:t>
            </a:r>
            <a:endParaRPr lang="en-US" sz="1600"/>
          </a:p>
        </p:txBody>
      </p:sp>
      <p:sp>
        <p:nvSpPr>
          <p:cNvPr id="15" name="s6-bg"/>
          <p:cNvSpPr/>
          <p:nvPr/>
        </p:nvSpPr>
        <p:spPr>
          <a:xfrm>
            <a:off x="8128000" y="3048000"/>
            <a:ext cx="3302000" cy="889000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6" name="s6"/>
          <p:cNvSpPr txBox="1"/>
          <p:nvPr/>
        </p:nvSpPr>
        <p:spPr>
          <a:xfrm>
            <a:off x="8318500" y="31115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539F"/>
                </a:solidFill>
                <a:latin typeface="MiSans"/>
                <a:ea typeface="MiSans"/>
              </a:rPr>
              <a:t>平衡街道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各类使用者平衡兼顾</a:t>
            </a:r>
            <a:endParaRPr lang="en-US" sz="1600"/>
          </a:p>
        </p:txBody>
      </p:sp>
      <p:sp>
        <p:nvSpPr>
          <p:cNvPr id="17" name="note"/>
          <p:cNvSpPr txBox="1"/>
          <p:nvPr/>
        </p:nvSpPr>
        <p:spPr>
          <a:xfrm>
            <a:off x="762000" y="4445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选择模板 → 批量生成 → 评分对比 → 选中方案 3D 预览</a:t>
            </a:r>
            <a:endParaRPr lang="en-US" sz="1500"/>
          </a:p>
          <a:p>
            <a:pPr algn="l">
              <a:lnSpc>
                <a:spcPct val="160000"/>
              </a:lnSpc>
            </a:pPr>
            <a:r>
              <a:rPr lang="en-US" sz="1300">
                <a:solidFill>
                  <a:srgbClr val="6B7280"/>
                </a:solidFill>
                <a:latin typeface="MiSans"/>
                <a:ea typeface="MiSans"/>
              </a:rPr>
              <a:t>也支持自定义 prompt / OSM 真实区域 / 参考标注 作为输入</a:t>
            </a:r>
            <a:endParaRPr lang="en-US" sz="1500"/>
          </a:p>
        </p:txBody>
      </p:sp>
      <p:sp>
        <p:nvSpPr>
          <p:cNvPr id="18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13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um"/>
          <p:cNvSpPr txBox="1"/>
          <p:nvPr/>
        </p:nvSpPr>
        <p:spPr>
          <a:xfrm>
            <a:off x="762000" y="457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539F"/>
                </a:solidFill>
                <a:latin typeface="MiSans"/>
                <a:ea typeface="MiSans"/>
              </a:rPr>
              <a:t>13</a:t>
            </a:r>
            <a:endParaRPr lang="en-US" sz="1400"/>
          </a:p>
        </p:txBody>
      </p:sp>
      <p:sp>
        <p:nvSpPr>
          <p:cNvPr id="3" name="title"/>
          <p:cNvSpPr txBox="1"/>
          <p:nvPr/>
        </p:nvSpPr>
        <p:spPr>
          <a:xfrm>
            <a:off x="762000" y="889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1F2937"/>
                </a:solidFill>
                <a:latin typeface="MiSans"/>
                <a:ea typeface="MiSans"/>
              </a:rPr>
              <a:t>当前能力与边界</a:t>
            </a:r>
            <a:endParaRPr lang="en-US" sz="3600"/>
          </a:p>
        </p:txBody>
      </p:sp>
      <p:sp>
        <p:nvSpPr>
          <p:cNvPr id="4" name="title-line"/>
          <p:cNvSpPr/>
          <p:nvPr>
            <p:extLst>
              <p:ext uri="{F5677B7D-0D2A-4D9B-9A5C-6D8D7D0E5A5D}">
                <pptd:line encoding="base64url">eyJjdXJ2ZSI6InJvdW5kIiwicG9pbnRzIjoiMCwwIDYwLDAiLCJ2aWV3Qm94IjpbNjAsMl19</pptd:line>
              </p:ext>
            </p:extLst>
          </p:nvPr>
        </p:nvSpPr>
        <p:spPr>
          <a:xfrm>
            <a:off x="762000" y="14986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25400" cap="rnd">
            <a:solidFill>
              <a:srgbClr val="FFD100"/>
            </a:solidFill>
            <a:round/>
          </a:ln>
        </p:spPr>
      </p:sp>
      <p:sp>
        <p:nvSpPr>
          <p:cNvPr id="5" name="done-title"/>
          <p:cNvSpPr txBox="1"/>
          <p:nvPr/>
        </p:nvSpPr>
        <p:spPr>
          <a:xfrm>
            <a:off x="762000" y="1905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539F"/>
                </a:solidFill>
                <a:latin typeface="MiSans"/>
                <a:ea typeface="MiSans"/>
              </a:rPr>
              <a:t>✓ 已实现</a:t>
            </a:r>
            <a:endParaRPr lang="en-US" sz="1800"/>
          </a:p>
        </p:txBody>
      </p:sp>
      <p:sp>
        <p:nvSpPr>
          <p:cNvPr id="6" name="done"/>
          <p:cNvSpPr txBox="1"/>
          <p:nvPr/>
        </p:nvSpPr>
        <p:spPr>
          <a:xfrm>
            <a:off x="762000" y="2413000"/>
            <a:ext cx="5334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规则驱动的场景生成管线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StreetProgram / ConstraintSet / LayoutSolver 显式结构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多维度量化评估（walkability / safety / beauty）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Pareto 批量搜索与相关性分析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OSM 真实数据接入与语义分块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Three.js 交互式 3D 查看器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RAG 知识库 + LLM 可选辅助</a:t>
            </a:r>
            <a:endParaRPr lang="en-US" sz="1500"/>
          </a:p>
        </p:txBody>
      </p:sp>
      <p:sp>
        <p:nvSpPr>
          <p:cNvPr id="7" name="limit-title"/>
          <p:cNvSpPr txBox="1"/>
          <p:nvPr/>
        </p:nvSpPr>
        <p:spPr>
          <a:xfrm>
            <a:off x="6604000" y="1905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9CA3AF"/>
                </a:solidFill>
                <a:latin typeface="MiSans"/>
                <a:ea typeface="MiSans"/>
              </a:rPr>
              <a:t>○ 当前边界</a:t>
            </a:r>
            <a:endParaRPr lang="en-US" sz="1800"/>
          </a:p>
        </p:txBody>
      </p:sp>
      <p:sp>
        <p:nvSpPr>
          <p:cNvPr id="8" name="limit"/>
          <p:cNvSpPr txBox="1"/>
          <p:nvPr/>
        </p:nvSpPr>
        <p:spPr>
          <a:xfrm>
            <a:off x="6604000" y="2413000"/>
            <a:ext cx="4826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非严格神经符号模型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未覆盖交通仿真与信号控制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未覆盖道路工程级规范库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LLM 参数推导为可选增强，主路径 skip_llm</a:t>
            </a:r>
            <a:endParaRPr lang="en-US" sz="1500"/>
          </a:p>
          <a:p>
            <a:pPr algn="l">
              <a:lnSpc>
                <a:spcPct val="170000"/>
              </a:lnSpc>
            </a:pPr>
            <a:r>
              <a:rPr lang="en-US" sz="1500">
                <a:solidFill>
                  <a:srgbClr val="1F2937"/>
                </a:solidFill>
                <a:latin typeface="MiSans"/>
                <a:ea typeface="MiSans"/>
              </a:rPr>
              <a:t>• 评价基于相关性分析，不声明严格因果</a:t>
            </a:r>
            <a:endParaRPr lang="en-US" sz="1500"/>
          </a:p>
        </p:txBody>
      </p:sp>
      <p:sp>
        <p:nvSpPr>
          <p:cNvPr id="9" name="mid-divider"/>
          <p:cNvSpPr/>
          <p:nvPr>
            <p:extLst>
              <p:ext uri="{F5677B7D-0D2A-4D9B-9A5C-6D8D7D0E5A5D}">
                <pptd:line encoding="base64url">eyJjdXJ2ZSI6InJvdW5kIiwicG9pbnRzIjoiMCwwIDAsMjgwIiwidmlld0JveCI6WzEsMjgwXX0</pptd:line>
              </p:ext>
            </p:extLst>
          </p:nvPr>
        </p:nvSpPr>
        <p:spPr>
          <a:xfrm>
            <a:off x="6096000" y="1905000"/>
            <a:ext cx="12700" cy="3556000"/>
          </a:xfrm>
          <a:custGeom>
            <a:avLst/>
            <a:gdLst/>
            <a:ahLst/>
            <a:cxnLst/>
            <a:rect l="l" t="t" r="r" b="b"/>
            <a:pathLst>
              <a:path w="1" h="280">
                <a:moveTo>
                  <a:pt x="0" y="0"/>
                </a:moveTo>
                <a:lnTo>
                  <a:pt x="0" y="28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0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14</a:t>
            </a:r>
            <a:endParaRPr lang="en-US" sz="12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539F"/>
          </a:solidFill>
          <a:ln>
            <a:noFill/>
          </a:ln>
        </p:spPr>
      </p:sp>
      <p:sp>
        <p:nvSpPr>
          <p:cNvPr id="3" name="top-line"/>
          <p:cNvSpPr/>
          <p:nvPr>
            <p:extLst>
              <p:ext uri="{F5677B7D-0D2A-4D9B-9A5C-6D8D7D0E5A5D}">
                <pptd:line encoding="base64url">eyJjdXJ2ZSI6InJvdW5kIiwicG9pbnRzIjoiMCwwIDg0MCwwIiwidmlld0JveCI6Wzg0MCwxXX0</pptd:line>
              </p:ext>
            </p:extLst>
          </p:nvPr>
        </p:nvSpPr>
        <p:spPr>
          <a:xfrm>
            <a:off x="762000" y="1016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4" name="title"/>
          <p:cNvSpPr txBox="1"/>
          <p:nvPr/>
        </p:nvSpPr>
        <p:spPr>
          <a:xfrm>
            <a:off x="762000" y="2286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10000"/>
              </a:lnSpc>
            </a:pPr>
            <a:r>
              <a:rPr lang="en-US" sz="5200" b="1">
                <a:solidFill>
                  <a:srgbClr val="00539F"/>
                </a:solidFill>
                <a:latin typeface="MiSans"/>
                <a:ea typeface="MiSans"/>
              </a:rPr>
              <a:t>RoadGen3D</a:t>
            </a:r>
            <a:endParaRPr lang="en-US" sz="5200"/>
          </a:p>
        </p:txBody>
      </p:sp>
      <p:sp>
        <p:nvSpPr>
          <p:cNvPr id="5" name="subtitle"/>
          <p:cNvSpPr txBox="1"/>
          <p:nvPr/>
        </p:nvSpPr>
        <p:spPr>
          <a:xfrm>
            <a:off x="762000" y="31750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2200">
                <a:solidFill>
                  <a:srgbClr val="1F2937"/>
                </a:solidFill>
                <a:latin typeface="MiSans"/>
                <a:ea typeface="MiSans"/>
              </a:rPr>
              <a:t>github.com/GIStudio/RoadGen3D</a:t>
            </a:r>
            <a:endParaRPr lang="en-US" sz="2200"/>
          </a:p>
        </p:txBody>
      </p:sp>
      <p:sp>
        <p:nvSpPr>
          <p:cNvPr id="6" name="yellow-line"/>
          <p:cNvSpPr/>
          <p:nvPr>
            <p:extLst>
              <p:ext uri="{F5677B7D-0D2A-4D9B-9A5C-6D8D7D0E5A5D}">
                <pptd:line encoding="base64url">eyJjdXJ2ZSI6InJvdW5kIiwicG9pbnRzIjoiMCwwIDgwLDAiLCJ2aWV3Qm94IjpbODAsM119</pptd:line>
              </p:ext>
            </p:extLst>
          </p:nvPr>
        </p:nvSpPr>
        <p:spPr>
          <a:xfrm>
            <a:off x="762000" y="4191000"/>
            <a:ext cx="1016000" cy="38100"/>
          </a:xfrm>
          <a:custGeom>
            <a:avLst/>
            <a:gdLst/>
            <a:ahLst/>
            <a:cxnLst/>
            <a:rect l="l" t="t" r="r" b="b"/>
            <a:pathLst>
              <a:path w="80" h="3">
                <a:moveTo>
                  <a:pt x="0" y="0"/>
                </a:moveTo>
                <a:lnTo>
                  <a:pt x="80" y="0"/>
                </a:lnTo>
              </a:path>
            </a:pathLst>
          </a:custGeom>
          <a:noFill/>
          <a:ln w="38100" cap="rnd">
            <a:solidFill>
              <a:srgbClr val="FFD100"/>
            </a:solidFill>
            <a:round/>
          </a:ln>
        </p:spPr>
      </p:sp>
      <p:sp>
        <p:nvSpPr>
          <p:cNvPr id="7" name="contact"/>
          <p:cNvSpPr txBox="1"/>
          <p:nvPr/>
        </p:nvSpPr>
        <p:spPr>
          <a:xfrm>
            <a:off x="762000" y="4572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6B7280"/>
                </a:solidFill>
                <a:latin typeface="MiSans"/>
                <a:ea typeface="MiSans"/>
              </a:rPr>
              <a:t>GIStudio  ·  城市空间设计与生成研究组</a:t>
            </a:r>
            <a:endParaRPr lang="en-US" sz="1600"/>
          </a:p>
        </p:txBody>
      </p:sp>
      <p:sp>
        <p:nvSpPr>
          <p:cNvPr id="8" name="page-num"/>
          <p:cNvSpPr txBox="1"/>
          <p:nvPr/>
        </p:nvSpPr>
        <p:spPr>
          <a:xfrm>
            <a:off x="109220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r">
              <a:lnSpc>
                <a:spcPct val="140000"/>
              </a:lnSpc>
            </a:pPr>
            <a:r>
              <a:rPr lang="en-US" sz="1200">
                <a:solidFill>
                  <a:srgbClr val="6B7280"/>
                </a:solidFill>
                <a:latin typeface="MiSans"/>
                <a:ea typeface="MiSans"/>
              </a:rPr>
              <a:t>15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